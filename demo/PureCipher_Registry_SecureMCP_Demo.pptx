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One-sentence story: a developer publishes an MCP server, a curator approves it, an agent registers and gets a scoped token, and from then on every tool call is checked against policy, recorded in a tamper-evident ledger, watched for anomalies, and validated against consent and contract — without changing the agent's code. Keep the three-layer framing: FastMCP exposes capability, SecureMCP governs it, PureCipher distributes it with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framing. Capability without governance is a liability. The right column is what the demo delivers — and the developer doesn't rewrite the server to get it. SecureMCP wraps capability the server already exposes.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framing. SecureMCP is a subclass of FastMCP, so developers keep the FastMCP DX. PureCipher is the real product surface. Mention the two-repo split: backend Python API + Next.js console.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five steps left to right. Step 3 — agent registers — is the heart of the request. The only change to connect is the URL: it points at the registry proxy instead of the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Dwell on this slide. Access is granted to a registered party, not an anonymous caller. Show the console client page (/registry/clients/claude-code-demo) live. The token is shown only once — call that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payoff. Each control maps to a console dashboard (route on the card). Walk them in order after the agent has made its calls. Optional: trigger a denial by calling a tool not in the allowlist — the deny is itself recorded, so you have an audit of attempts, not just successes.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live cue card. The runbook has the exact commands, the proxy config JSON, troubleshooting, and the reset procedure.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value. Land the three-verb line and the before/after quote. The takeaway for the business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to the live terminal. Open the runbook's quick-reference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463040"/>
            <a:ext cx="4206240" cy="4206240"/>
          </a:xfrm>
          <a:prstGeom prst="ellipse">
            <a:avLst/>
          </a:prstGeom>
          <a:solidFill>
            <a:srgbClr val="0E3B4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29800" y="-868680"/>
            <a:ext cx="3017520" cy="3017520"/>
          </a:xfrm>
          <a:prstGeom prst="ellipse">
            <a:avLst/>
          </a:prstGeom>
          <a:solidFill>
            <a:srgbClr val="0B2027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4572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·  TRUST-NATIVE MCP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94360" y="178308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PureCipher Registry</a:t>
            </a:r>
            <a:endParaRPr lang="en-US" sz="5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+ SecureMCP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640080" y="388620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D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registers in the registry to access a published MCP server — and every tool call it makes is governed, recorded, and provable.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3017520" cy="566928"/>
          </a:xfrm>
          <a:prstGeom prst="roundRect">
            <a:avLst>
              <a:gd name="adj" fmla="val 12903"/>
            </a:avLst>
          </a:prstGeom>
          <a:solidFill>
            <a:srgbClr val="0E3B4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07492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D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FastMCP — the engine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886200" y="5074920"/>
            <a:ext cx="3017520" cy="566928"/>
          </a:xfrm>
          <a:prstGeom prst="roundRect">
            <a:avLst>
              <a:gd name="adj" fmla="val 12903"/>
            </a:avLst>
          </a:prstGeom>
          <a:solidFill>
            <a:srgbClr val="0E3B4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86200" y="507492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D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SecureMCP — the secure layer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132320" y="5074920"/>
            <a:ext cx="3017520" cy="566928"/>
          </a:xfrm>
          <a:prstGeom prst="roundRect">
            <a:avLst>
              <a:gd name="adj" fmla="val 12903"/>
            </a:avLst>
          </a:prstGeom>
          <a:solidFill>
            <a:srgbClr val="0E3B4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0" y="507492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D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PureCipher — the product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D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PureCipher  ·  Registry + SecureMCP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4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gap today: capability without governance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MCP servers ship raw capability. Anyone with the URL can call anything — no identity, no policy, no record.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1208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E2E8E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48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Plain MCP server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27249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URL — anonymous callers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3346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332841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identity behind a request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3950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3931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exposed, unconditionally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68680" y="4553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453542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 of what was called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68680" y="5157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51389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prove what an agent did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0" y="1920240"/>
            <a:ext cx="5212080" cy="4023360"/>
          </a:xfrm>
          <a:prstGeom prst="roundRect">
            <a:avLst>
              <a:gd name="adj" fmla="val 2273"/>
            </a:avLst>
          </a:prstGeom>
          <a:solidFill>
            <a:srgbClr val="0E3B43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0840" y="2148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Through PureCipher + SecureMCP</a:t>
            </a:r>
            <a:endParaRPr lang="en-US" sz="19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2743200"/>
            <a:ext cx="292608" cy="29260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132320" y="27249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D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Registered, scoped agent identity</a:t>
            </a:r>
            <a:endParaRPr lang="en-US" sz="145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346704"/>
            <a:ext cx="292608" cy="29260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132320" y="332841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D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allowlist on every call</a:t>
            </a:r>
            <a:endParaRPr lang="en-US" sz="14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3950208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132320" y="3931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D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provenance ledger</a:t>
            </a:r>
            <a:endParaRPr lang="en-US" sz="145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4553712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132320" y="453542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D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per actor</a:t>
            </a:r>
            <a:endParaRPr lang="en-US" sz="145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5157216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132320" y="51389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D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+ contract enforced inline</a:t>
            </a:r>
            <a:endParaRPr lang="en-US" sz="1450" dirty="0"/>
          </a:p>
        </p:txBody>
      </p:sp>
      <p:sp>
        <p:nvSpPr>
          <p:cNvPr id="29" name="Text 2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PureCipher  ·  Registry + SecureMCP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Three layers, one source tree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SecureMCP subclasses FastMCP, so the full server surface stays intact. PureCipher adds the trusted registry and publisher on top.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0E3B43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8600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496312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246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FastMCP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868680" y="3703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41148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D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resources, prompts, middleware, transports. Exposes capability.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25112" y="196596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0E3B43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45152" y="2286000"/>
            <a:ext cx="868680" cy="8686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464" y="2496312"/>
            <a:ext cx="448056" cy="4480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45152" y="3246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SecureMCP</a:t>
            </a:r>
            <a:endParaRPr lang="en-US" sz="2300" dirty="0"/>
          </a:p>
        </p:txBody>
      </p:sp>
      <p:sp>
        <p:nvSpPr>
          <p:cNvPr id="14" name="Text 10"/>
          <p:cNvSpPr/>
          <p:nvPr/>
        </p:nvSpPr>
        <p:spPr>
          <a:xfrm>
            <a:off x="4645152" y="3703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secure server layer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645152" y="41148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D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Manifests, runtime policy, provenance, consent, contracts. Governs capability.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101584" y="196596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0E3B43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21624" y="2286000"/>
            <a:ext cx="868680" cy="8686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2496312"/>
            <a:ext cx="448056" cy="4480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21624" y="3246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PureCipher</a:t>
            </a:r>
            <a:endParaRPr lang="en-US" sz="2300" dirty="0"/>
          </a:p>
        </p:txBody>
      </p:sp>
      <p:sp>
        <p:nvSpPr>
          <p:cNvPr id="20" name="Text 15"/>
          <p:cNvSpPr/>
          <p:nvPr/>
        </p:nvSpPr>
        <p:spPr>
          <a:xfrm>
            <a:off x="8421624" y="3703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layer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421624" y="41148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D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+ Publisher: catalog, curation, client identities, governance proxy.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repos:  xsecuremcp2.0 (backend: SecureMCP + PureCipher API)   ·   xregistry (Next.js console + public site)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D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PureCipher  ·  Registry + SecureMCP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4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end-to-end 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raw server to a governed agent call — five steps, none requiring the agent's code to change.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084832" cy="32004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2E8E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33856" y="251460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272491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52044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58368" y="3767328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4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Publish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" y="425196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publishes an MCP server via the Publisher CLI.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798064" y="2194560"/>
            <a:ext cx="2084832" cy="32004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2E8E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83280" y="251460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2724912"/>
            <a:ext cx="493776" cy="4937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98064" y="352044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2907792" y="3767328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4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Curate &amp; approve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2935224" y="425196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Curator introspects, reviews, and approves the listing.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047488" y="2194560"/>
            <a:ext cx="2084832" cy="3200400"/>
          </a:xfrm>
          <a:prstGeom prst="roundRect">
            <a:avLst>
              <a:gd name="adj" fmla="val 3947"/>
            </a:avLst>
          </a:prstGeom>
          <a:solidFill>
            <a:srgbClr val="0E3B43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632704" y="251460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016" y="2724912"/>
            <a:ext cx="493776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47488" y="352044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5157216" y="3767328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Agent registers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5184648" y="425196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D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becomes a scoped client identity; gets a one-time token.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7296912" y="2194560"/>
            <a:ext cx="2084832" cy="32004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2E8E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882128" y="251460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2724912"/>
            <a:ext cx="493776" cy="49377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296912" y="352044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7406640" y="3767328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4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Connect via proxy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7434072" y="425196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connects through the registry proxy, not the server.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9546336" y="2194560"/>
            <a:ext cx="2084832" cy="32004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2E8E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131552" y="251460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1864" y="2724912"/>
            <a:ext cx="493776" cy="49377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546336" y="352044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9656064" y="3767328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4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Govern every call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9683496" y="425196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Policy, provenance, reflexive, consent, contract enforced.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5047488" y="550468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Core of this demo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PureCipher  ·  Registry + SecureMCP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480560"/>
            <a:ext cx="3657600" cy="3657600"/>
          </a:xfrm>
          <a:prstGeom prst="ellipse">
            <a:avLst/>
          </a:prstGeom>
          <a:solidFill>
            <a:srgbClr val="0E3B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·  THE CORE MOMENT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agent registers — and becomes governable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486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CD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anonymous caller becomes a known identity.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D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kind: agent — distinguishes a non-human caller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D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Scoped, one-time bearer token is issued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D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binds every downstream call to this identity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D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Intended use is declared and reviewable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5486400" cy="2011680"/>
          </a:xfrm>
          <a:prstGeom prst="roundRect">
            <a:avLst>
              <a:gd name="adj" fmla="val 2727"/>
            </a:avLst>
          </a:prstGeom>
          <a:solidFill>
            <a:srgbClr val="06161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4315968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/registry/clients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DED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"display_name": "Claude Code Demo",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DED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"slug": "claude-code-demo",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"kind": "agent",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DED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"issue_initial_token": true }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secret: pcc_…  (shown once)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0" y="1783080"/>
            <a:ext cx="5212080" cy="4389120"/>
          </a:xfrm>
          <a:prstGeom prst="roundRect">
            <a:avLst>
              <a:gd name="adj" fmla="val 2083"/>
            </a:avLst>
          </a:prstGeom>
          <a:solidFill>
            <a:srgbClr val="0E3B43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720840" y="205740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224028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635240" y="21031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the registry now knows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720840" y="3063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458200" y="3063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D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claude-code-demo (agent)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720840" y="366674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458200" y="366674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D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bearer, revocable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720840" y="42702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tools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458200" y="42702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D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curator-observed tools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720840" y="48737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458200" y="48737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D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/ read, expiring grants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720840" y="547725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458200" y="547725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D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rate-limited, provenance-required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D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PureCipher  ·  Registry + SecureMCP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4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Five controls on every call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proxy enforces all five before a tool runs — and records the result, including denials.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E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30552"/>
            <a:ext cx="640080" cy="640080"/>
          </a:xfrm>
          <a:prstGeom prst="ellipse">
            <a:avLst/>
          </a:prstGeom>
          <a:solidFill>
            <a:srgbClr val="CDED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28600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1226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34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Allowlist policy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curator-observed tools are callable. Anything else is denied at the proxy.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32735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/registry/policy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97680" y="187452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E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53712" y="2130552"/>
            <a:ext cx="640080" cy="640080"/>
          </a:xfrm>
          <a:prstGeom prst="ellipse">
            <a:avLst/>
          </a:prstGeom>
          <a:solidFill>
            <a:srgbClr val="CDEDE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28600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211226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34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Provenance ledger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572000" y="27889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is a record in a Merkle-tree audit log — tamper-evident and provable.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572000" y="32735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/registry/provenance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046720" y="187452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E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02752" y="2130552"/>
            <a:ext cx="640080" cy="640080"/>
          </a:xfrm>
          <a:prstGeom prst="ellipse">
            <a:avLst/>
          </a:prstGeom>
          <a:solidFill>
            <a:srgbClr val="CDEDE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286000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98280" y="211226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34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Reflexive core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8321040" y="27889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Per-actor behavioral baselines and anomaly detection flag deviations.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321040" y="32735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/registry/reflexive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2423160" y="384048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E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2679192" y="4096512"/>
            <a:ext cx="640080" cy="640080"/>
          </a:xfrm>
          <a:prstGeom prst="ellipse">
            <a:avLst/>
          </a:prstGeom>
          <a:solidFill>
            <a:srgbClr val="CDEDEE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4251960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474720" y="407822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34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Consent graph</a:t>
            </a:r>
            <a:endParaRPr lang="en-US" sz="1650" dirty="0"/>
          </a:p>
        </p:txBody>
      </p:sp>
      <p:sp>
        <p:nvSpPr>
          <p:cNvPr id="26" name="Text 20"/>
          <p:cNvSpPr/>
          <p:nvPr/>
        </p:nvSpPr>
        <p:spPr>
          <a:xfrm>
            <a:off x="2697480" y="47548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 of execute/read are checked before execution; grants can expire.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2697480" y="52395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/registry/consent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6172200" y="384048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E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428232" y="4096512"/>
            <a:ext cx="640080" cy="640080"/>
          </a:xfrm>
          <a:prstGeom prst="ellipse">
            <a:avLst/>
          </a:prstGeom>
          <a:solidFill>
            <a:srgbClr val="CDEDEE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4251960"/>
            <a:ext cx="329184" cy="32918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223760" y="407822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34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Contract broker</a:t>
            </a:r>
            <a:endParaRPr lang="en-US" sz="1650" dirty="0"/>
          </a:p>
        </p:txBody>
      </p:sp>
      <p:sp>
        <p:nvSpPr>
          <p:cNvPr id="32" name="Text 25"/>
          <p:cNvSpPr/>
          <p:nvPr/>
        </p:nvSpPr>
        <p:spPr>
          <a:xfrm>
            <a:off x="6446520" y="47548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active contract — allowed tools, rate limits — must cover the action.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6446520" y="52395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/registry/contracts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PureCipher  ·  Registry + SecureMCP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you'll see — live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pipeline runs in one terminal flow, surfaced in the console.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0E3B43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47672"/>
            <a:ext cx="475488" cy="47548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47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0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82880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up the stack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937760" y="1828800"/>
            <a:ext cx="6492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DED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 (registry :8000, console :3000, demo server :9000)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615184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0C2A31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734056"/>
            <a:ext cx="475488" cy="47548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340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0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2615184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+ curate + approve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937760" y="2615184"/>
            <a:ext cx="6492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DED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onboard_demo.sh  → listing created and approved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401568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0E3B43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520440"/>
            <a:ext cx="475488" cy="47548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0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3401568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registers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937760" y="3401568"/>
            <a:ext cx="6492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DED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identity issued, one-time token printed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187952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0C2A31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306824"/>
            <a:ext cx="475488" cy="47548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3068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0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08760" y="4187952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calls tools via proxy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937760" y="4187952"/>
            <a:ext cx="6492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DED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/runtime/proxy/&lt;listing&gt;/mcp  — same MCP client, new URL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974336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0E3B43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5093208"/>
            <a:ext cx="475488" cy="47548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093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0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508760" y="4974336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governance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937760" y="4974336"/>
            <a:ext cx="6492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DED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 · provenance · reflexive · consent · contracts dashboards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58704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commands and reset steps are in DEMO_RUNBOOK.md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D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PureCipher  ·  Registry + SecureMCP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4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it matters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E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874520"/>
            <a:ext cx="777240" cy="777240"/>
          </a:xfrm>
          <a:prstGeom prst="ellipse">
            <a:avLst/>
          </a:prstGeom>
          <a:solidFill>
            <a:srgbClr val="CDEDE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066544"/>
            <a:ext cx="393192" cy="3931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788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4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Provable, not just logged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32461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Merkle-tree ledger lets you prove what an agent did and that the record wasn't altered.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25112" y="155448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E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45152" y="1874520"/>
            <a:ext cx="777240" cy="777240"/>
          </a:xfrm>
          <a:prstGeom prst="ellipse">
            <a:avLst/>
          </a:prstGeom>
          <a:solidFill>
            <a:srgbClr val="CDEDE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6" y="2066544"/>
            <a:ext cx="393192" cy="3931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45152" y="2788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4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Authorized by design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645152" y="32461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consent, and contract are checked inline — access is granted to a known party.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101584" y="155448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E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421624" y="1874520"/>
            <a:ext cx="777240" cy="777240"/>
          </a:xfrm>
          <a:prstGeom prst="ellipse">
            <a:avLst/>
          </a:prstGeom>
          <a:solidFill>
            <a:srgbClr val="CDEDE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2066544"/>
            <a:ext cx="393192" cy="3931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21624" y="2788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4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Least privilege enforced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421624" y="32461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can only call the tools a curator approved — surface area is bounded automatically.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4617720"/>
            <a:ext cx="11064240" cy="1508760"/>
          </a:xfrm>
          <a:prstGeom prst="roundRect">
            <a:avLst>
              <a:gd name="adj" fmla="val 6061"/>
            </a:avLst>
          </a:prstGeom>
          <a:solidFill>
            <a:srgbClr val="0E3B43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822960" y="4800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FastMCP exposes capability.  SecureMCP governs it.  PureCipher distributes it with trust.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822960" y="5440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CD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 agent called a tool"  →  "a known agent made an authorized, recorded, in-policy call — and we can prove it."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PureCipher  ·  Registry + SecureMCP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4114800"/>
            <a:ext cx="4389120" cy="4389120"/>
          </a:xfrm>
          <a:prstGeom prst="ellipse">
            <a:avLst/>
          </a:prstGeom>
          <a:solidFill>
            <a:srgbClr val="0E3B4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0749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1031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Let's run it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40080" y="3200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D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→ curate → register → connect → govern.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D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flow, fully recorded, ready to demo.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4663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Runbook:  </a:t>
            </a:r>
            <a:pPr indent="0" marL="0">
              <a:buNone/>
            </a:pPr>
            <a:r>
              <a:rPr lang="en-US" sz="1400" dirty="0">
                <a:solidFill>
                  <a:srgbClr val="CDED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demo/DEMO_RUNBOOK.md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5074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Repos:  </a:t>
            </a:r>
            <a:pPr indent="0" marL="0">
              <a:buNone/>
            </a:pPr>
            <a:r>
              <a:rPr lang="en-US" sz="1400" dirty="0">
                <a:solidFill>
                  <a:srgbClr val="CD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xsecuremcp2.0  (backend)   ·   xregistry  (console)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D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PureCipher  ·  Registry + SecureMCP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PureCipher Registry + SecureMCP — Demo</dc:title>
  <dc:subject>PptxGenJS Presentation</dc:subject>
  <dc:creator>PureCipher</dc:creator>
  <cp:lastModifiedBy>PureCipher</cp:lastModifiedBy>
  <cp:revision>1</cp:revision>
  <dcterms:created xsi:type="dcterms:W3CDTF">2026-06-30T11:59:49Z</dcterms:created>
  <dcterms:modified xsi:type="dcterms:W3CDTF">2026-06-30T11:59:49Z</dcterms:modified>
</cp:coreProperties>
</file>